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Utku Deniz Altio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20T11:13:45.289">
    <p:pos x="6000" y="0"/>
    <p:text>Create a visual, and interactive platform to bridge MPPT control and practical hardware. I built an educational 300 W MPPT buck converter controlled by an ESP32. Mention that slides include hardware, firmware, validation and demo.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740cbcf9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740cbcf9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40cbcf9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740cbcf9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740cbcf9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740cbcf9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740cbcf9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740cbcf9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40cbcf9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740cbcf9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740cbcf9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740cbcf9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2d35363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2d35363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40cbcf9d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40cbcf9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40cbcf9d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740cbcf9d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40cbcf9d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740cbcf9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a2d35363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a2d35363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2d35363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a2d35363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740cbcf9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740cbcf9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740cbcf9d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740cbcf9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40cbcf9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740cbcf9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2d35363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a2d35363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a2d35363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a2d35363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2d35363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a2d35363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40cbcf9d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740cbcf9d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40cbcf9d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740cbcf9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740cbcf9d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740cbcf9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jp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chart.j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UtkuDenizAltiok/EDUGrid_Final" TargetMode="External"/><Relationship Id="rId4" Type="http://schemas.openxmlformats.org/officeDocument/2006/relationships/hyperlink" Target="https://youtu.be/TUlADqGg1u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176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chemeClr val="accent1"/>
                </a:solidFill>
              </a:rPr>
              <a:t>Design and Implementation of a 300 W</a:t>
            </a:r>
            <a:endParaRPr b="1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chemeClr val="accent1"/>
                </a:solidFill>
              </a:rPr>
              <a:t>Educational MPPT Synchronous Buck</a:t>
            </a:r>
            <a:endParaRPr b="1" sz="2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chemeClr val="accent1"/>
                </a:solidFill>
              </a:rPr>
              <a:t>Converter with ESP32 Control</a:t>
            </a:r>
            <a:endParaRPr b="1" sz="29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</p:txBody>
      </p:sp>
      <p:pic>
        <p:nvPicPr>
          <p:cNvPr id="55" name="Google Shape;55;p13" title="IMG_108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50" y="1851125"/>
            <a:ext cx="3754327" cy="28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650" y="2020638"/>
            <a:ext cx="4479651" cy="24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17625"/>
            <a:ext cx="85206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Outline</a:t>
            </a:r>
            <a:endParaRPr b="1" sz="2900"/>
          </a:p>
        </p:txBody>
      </p:sp>
      <p:sp>
        <p:nvSpPr>
          <p:cNvPr id="62" name="Google Shape;62;p14"/>
          <p:cNvSpPr txBox="1"/>
          <p:nvPr/>
        </p:nvSpPr>
        <p:spPr>
          <a:xfrm>
            <a:off x="155850" y="1440600"/>
            <a:ext cx="8832300" cy="23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Motivation, System Specifications and Objectives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Hardware design (power stage, sensors, aux rails) / PCB Strategy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Firmware Architecture, Measurement &amp; MPPT algorithm and Web UI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Validation &amp; performance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Demo, repo &amp; resources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Conclusions and future work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Motivation, System Specifications and Objectives</a:t>
            </a:r>
            <a:endParaRPr b="1" sz="2900"/>
          </a:p>
        </p:txBody>
      </p:sp>
      <p:sp>
        <p:nvSpPr>
          <p:cNvPr id="68" name="Google Shape;68;p15"/>
          <p:cNvSpPr txBox="1"/>
          <p:nvPr/>
        </p:nvSpPr>
        <p:spPr>
          <a:xfrm>
            <a:off x="155850" y="1440600"/>
            <a:ext cx="8832300" cy="3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Goal : Design a robust 300W Synchronous Buck Converter for MPPT applications which also need to be educationally simple by </a:t>
            </a:r>
            <a:r>
              <a:rPr lang="en" sz="2100"/>
              <a:t>providing visual</a:t>
            </a:r>
            <a:r>
              <a:rPr lang="en" sz="2100"/>
              <a:t>, debuggable and extendable system for labs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End-to-end development including schematic design, component selection, PCB layout, firmware (ESP32), and web-based visualization.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System Specifications and Objectives</a:t>
            </a:r>
            <a:endParaRPr b="1" sz="2900"/>
          </a:p>
        </p:txBody>
      </p:sp>
      <p:sp>
        <p:nvSpPr>
          <p:cNvPr id="74" name="Google Shape;74;p16"/>
          <p:cNvSpPr txBox="1"/>
          <p:nvPr/>
        </p:nvSpPr>
        <p:spPr>
          <a:xfrm>
            <a:off x="155850" y="1440600"/>
            <a:ext cx="8832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Design a 300 W synchronous buck converter for PV MPPT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Implement MPPT (Perturb &amp; Observe) on ESP32 with web UI IV Curve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Provide precise input/output sensing (dual INA228)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Make design teachable: clear PCB silkscreen, test points, visualizations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Hardware Design </a:t>
            </a:r>
            <a:endParaRPr b="1" sz="2900"/>
          </a:p>
        </p:txBody>
      </p:sp>
      <p:sp>
        <p:nvSpPr>
          <p:cNvPr id="80" name="Google Shape;80;p17"/>
          <p:cNvSpPr txBox="1"/>
          <p:nvPr/>
        </p:nvSpPr>
        <p:spPr>
          <a:xfrm>
            <a:off x="215825" y="1530550"/>
            <a:ext cx="88323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Topology and Key Choices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Gate Drive Network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Sensing : Dual INA228 Setup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Auxiliary</a:t>
            </a:r>
            <a:r>
              <a:rPr lang="en" sz="2100"/>
              <a:t> Supplies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PCB and Layout Decisions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Topology and Key Choices</a:t>
            </a:r>
            <a:endParaRPr b="1" sz="2900"/>
          </a:p>
        </p:txBody>
      </p:sp>
      <p:sp>
        <p:nvSpPr>
          <p:cNvPr id="86" name="Google Shape;86;p18"/>
          <p:cNvSpPr txBox="1"/>
          <p:nvPr/>
        </p:nvSpPr>
        <p:spPr>
          <a:xfrm>
            <a:off x="155850" y="1440600"/>
            <a:ext cx="88323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Synchronous Buck : </a:t>
            </a:r>
            <a:r>
              <a:rPr lang="en" sz="1800">
                <a:solidFill>
                  <a:schemeClr val="dk1"/>
                </a:solidFill>
              </a:rPr>
              <a:t>Chosen for efficiency (MOSFET synchronous rectification) lower loss than a regular diode buck.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MOSFET Selection:</a:t>
            </a:r>
            <a:r>
              <a:rPr lang="en" sz="1800">
                <a:solidFill>
                  <a:schemeClr val="dk1"/>
                </a:solidFill>
              </a:rPr>
              <a:t> IPP030N10NF2SAKMA1 (NMOS).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Selected for low RDS(on)​ to minimize conduction losses. High enough Voltage and high current capability.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Inductor &amp; Capacitors: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High saturation current inductor to ensure linear behavior.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Aluminum-polymer capacitors for low ESR and high ripple current capability.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Solar Panel JWS-Solar 1210, which can reach an open-circuit voltage of 38.8, a short-circuit current of 9.4 A, and operates at a maximum power point (MPP) of 31.9 V and 8.9 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Gate Drive Network</a:t>
            </a:r>
            <a:endParaRPr b="1" sz="2900"/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0" l="26587" r="30251" t="0"/>
          <a:stretch/>
        </p:blipFill>
        <p:spPr>
          <a:xfrm>
            <a:off x="167150" y="841000"/>
            <a:ext cx="3982075" cy="37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4195775" y="1378300"/>
            <a:ext cx="47538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Gate Driver:</a:t>
            </a:r>
            <a:r>
              <a:rPr lang="en" sz="1300">
                <a:solidFill>
                  <a:schemeClr val="dk1"/>
                </a:solidFill>
              </a:rPr>
              <a:t> IR2104 High/Low-side driver synchronous driver with bootstrap circuit.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By applying one pwm input it can drive two MOS synchronously. Internal deadtime (~540ns) to prevent shoot-through.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Asymmetrical Gate Drive:</a:t>
            </a:r>
            <a:r>
              <a:rPr lang="en" sz="1300">
                <a:solidFill>
                  <a:schemeClr val="dk1"/>
                </a:solidFill>
              </a:rPr>
              <a:t> Implemented using a Series Resistor for slower turn-on (reduced ringing) and a Schottky Diode (SS310) for fast turn-off (reduced switching loss).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Bootstrap to control the hide side mosfet.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100 kΩ gate-to-source discharge resistor.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925" y="494675"/>
            <a:ext cx="573405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Sensing : Dual INA228 Setup</a:t>
            </a:r>
            <a:endParaRPr b="1" sz="2900"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75" y="909825"/>
            <a:ext cx="52387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 rotWithShape="1">
          <a:blip r:embed="rId4">
            <a:alphaModFix/>
          </a:blip>
          <a:srcRect b="25573" l="0" r="0" t="0"/>
          <a:stretch/>
        </p:blipFill>
        <p:spPr>
          <a:xfrm>
            <a:off x="5869850" y="909825"/>
            <a:ext cx="2409275" cy="23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216300" y="3519950"/>
            <a:ext cx="84852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Two INA228 (85V) power monitors (input and output) via I²C to ESP 32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0.01 Ω shunt resistors -&gt; full-scale ≈ 16.38 A (Well below our expected current)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Kelvin 4‑wire layout and input filtering to suppress noises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Tested with multimeter for the accuracy and it gives same result.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ctrTitle"/>
          </p:nvPr>
        </p:nvSpPr>
        <p:spPr>
          <a:xfrm>
            <a:off x="84950" y="69950"/>
            <a:ext cx="9075000" cy="5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Auxiliary Supplies</a:t>
            </a:r>
            <a:endParaRPr b="1" sz="2900"/>
          </a:p>
        </p:txBody>
      </p:sp>
      <p:sp>
        <p:nvSpPr>
          <p:cNvPr id="112" name="Google Shape;112;p22"/>
          <p:cNvSpPr txBox="1"/>
          <p:nvPr/>
        </p:nvSpPr>
        <p:spPr>
          <a:xfrm>
            <a:off x="534000" y="570750"/>
            <a:ext cx="86100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The converter requires multiple auxiliary voltage rails to power different subsystems </a:t>
            </a:r>
            <a:endParaRPr sz="1600">
              <a:solidFill>
                <a:srgbClr val="1F1F1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I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R2104 gate driver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requires a supply voltage of at least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10 V</a:t>
            </a:r>
            <a:endParaRPr sz="1600">
              <a:solidFill>
                <a:srgbClr val="1F1F1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ESP32 microcontroller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and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INA228 power sensors operate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at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3.3 V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logic levels. </a:t>
            </a:r>
            <a:endParaRPr sz="1600">
              <a:solidFill>
                <a:srgbClr val="1F1F1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The primary input to the control board is the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5 V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supply provided via the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USB Type-C port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, capable of delivering up to approximately </a:t>
            </a:r>
            <a:r>
              <a:rPr lang="en" sz="16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2 A</a:t>
            </a: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 in its default configuration. So an LDO for 3.3V  small Boost converter for 13 V implemented</a:t>
            </a:r>
            <a:endParaRPr sz="1600">
              <a:solidFill>
                <a:srgbClr val="1F1F1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Inter Medium"/>
              <a:buChar char="●"/>
            </a:pPr>
            <a:r>
              <a:rPr lang="en" sz="1600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Also added external 5V input for powering up without usb connection</a:t>
            </a:r>
            <a:endParaRPr sz="1600">
              <a:solidFill>
                <a:srgbClr val="1F1F1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10297" t="0"/>
          <a:stretch/>
        </p:blipFill>
        <p:spPr>
          <a:xfrm>
            <a:off x="84950" y="2811175"/>
            <a:ext cx="46319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 rotWithShape="1">
          <a:blip r:embed="rId4">
            <a:alphaModFix/>
          </a:blip>
          <a:srcRect b="0" l="9120" r="5802" t="0"/>
          <a:stretch/>
        </p:blipFill>
        <p:spPr>
          <a:xfrm>
            <a:off x="5136625" y="2811175"/>
            <a:ext cx="3767550" cy="22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PCB and Layout Decisions</a:t>
            </a:r>
            <a:endParaRPr b="1" sz="2900"/>
          </a:p>
        </p:txBody>
      </p:sp>
      <p:sp>
        <p:nvSpPr>
          <p:cNvPr id="120" name="Google Shape;120;p23"/>
          <p:cNvSpPr txBox="1"/>
          <p:nvPr/>
        </p:nvSpPr>
        <p:spPr>
          <a:xfrm>
            <a:off x="155850" y="1202550"/>
            <a:ext cx="88323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&lt;(</a:t>
            </a:r>
            <a:r>
              <a:rPr lang="en" sz="1600"/>
              <a:t>10 × 10 cm) 2-layer PCB optimized for cost and teachability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Educational Focus:</a:t>
            </a:r>
            <a:r>
              <a:rPr lang="en" sz="1600">
                <a:solidFill>
                  <a:schemeClr val="dk1"/>
                </a:solidFill>
              </a:rPr>
              <a:t> Clear silkscreen labeling, test points for all critical signals (Gate, PWM, Vin​, Vout​), and logical component grouping. </a:t>
            </a:r>
            <a:r>
              <a:rPr lang="en" sz="1600">
                <a:solidFill>
                  <a:schemeClr val="dk1"/>
                </a:solidFill>
              </a:rPr>
              <a:t>LEDs, silkscreen labels, M3 mounting holes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Power stage tightly grouped to minimize high-current loop area. </a:t>
            </a:r>
            <a:r>
              <a:rPr lang="en" sz="1600">
                <a:solidFill>
                  <a:schemeClr val="dk1"/>
                </a:solidFill>
              </a:rPr>
              <a:t>Short, wide high-current loops; stitched vias and copper pours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 electronics (ESP32) partitioned away from the noisy switching node.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of top and bottom copper fills with stitching vias for thermal management and current handling.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 rotWithShape="1">
          <a:blip r:embed="rId3">
            <a:alphaModFix/>
          </a:blip>
          <a:srcRect b="0" l="0" r="8825" t="0"/>
          <a:stretch/>
        </p:blipFill>
        <p:spPr>
          <a:xfrm>
            <a:off x="52450" y="52450"/>
            <a:ext cx="4584500" cy="417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950" y="52450"/>
            <a:ext cx="4507050" cy="3961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 title="IMG_1084.jpg"/>
          <p:cNvPicPr preferRelativeResize="0"/>
          <p:nvPr/>
        </p:nvPicPr>
        <p:blipFill rotWithShape="1">
          <a:blip r:embed="rId3">
            <a:alphaModFix/>
          </a:blip>
          <a:srcRect b="15433" l="34529" r="10997" t="0"/>
          <a:stretch/>
        </p:blipFill>
        <p:spPr>
          <a:xfrm>
            <a:off x="319825" y="759525"/>
            <a:ext cx="3667599" cy="419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 title="IMG_1085.jpg"/>
          <p:cNvPicPr preferRelativeResize="0"/>
          <p:nvPr/>
        </p:nvPicPr>
        <p:blipFill rotWithShape="1">
          <a:blip r:embed="rId4">
            <a:alphaModFix/>
          </a:blip>
          <a:srcRect b="0" l="9198" r="0" t="0"/>
          <a:stretch/>
        </p:blipFill>
        <p:spPr>
          <a:xfrm>
            <a:off x="4182750" y="759525"/>
            <a:ext cx="4851651" cy="400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Firmware Architecture</a:t>
            </a:r>
            <a:endParaRPr b="1" sz="2900"/>
          </a:p>
        </p:txBody>
      </p:sp>
      <p:sp>
        <p:nvSpPr>
          <p:cNvPr id="138" name="Google Shape;138;p26"/>
          <p:cNvSpPr txBox="1"/>
          <p:nvPr/>
        </p:nvSpPr>
        <p:spPr>
          <a:xfrm>
            <a:off x="-38250" y="1718825"/>
            <a:ext cx="92205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Platform:</a:t>
            </a:r>
            <a:r>
              <a:rPr lang="en" sz="1700">
                <a:solidFill>
                  <a:schemeClr val="dk1"/>
                </a:solidFill>
              </a:rPr>
              <a:t> Developed in C++ using VSCode PlatformIO and the Arduino Framework.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Modular Design:</a:t>
            </a:r>
            <a:r>
              <a:rPr lang="en" sz="1700">
                <a:solidFill>
                  <a:schemeClr val="dk1"/>
                </a:solidFill>
              </a:rPr>
              <a:t> Separated into Filesystem, Measurement, MPPT Logic, PWM Control, and Webserver module for easier </a:t>
            </a:r>
            <a:r>
              <a:rPr lang="en" sz="1700">
                <a:solidFill>
                  <a:schemeClr val="dk1"/>
                </a:solidFill>
              </a:rPr>
              <a:t>understandability</a:t>
            </a:r>
            <a:r>
              <a:rPr lang="en" sz="1700">
                <a:solidFill>
                  <a:schemeClr val="dk1"/>
                </a:solidFill>
              </a:rPr>
              <a:t> and teaching.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Multitasking:</a:t>
            </a:r>
            <a:r>
              <a:rPr lang="en" sz="1700">
                <a:solidFill>
                  <a:schemeClr val="dk1"/>
                </a:solidFill>
              </a:rPr>
              <a:t> Uses FreeRTOS tasks to separate time-critical control loops from background telemetry and live asynchronous web server to avoid blocking control loop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Connectivity:</a:t>
            </a:r>
            <a:r>
              <a:rPr lang="en" sz="1700">
                <a:solidFill>
                  <a:schemeClr val="dk1"/>
                </a:solidFill>
              </a:rPr>
              <a:t> Supports USB-C (CH340C bridge) for serial debugging/programming and Wi-Fi for the Web UI.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ctrTitle"/>
          </p:nvPr>
        </p:nvSpPr>
        <p:spPr>
          <a:xfrm>
            <a:off x="84475" y="42200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MPPT Algorithm and Timing</a:t>
            </a:r>
            <a:endParaRPr b="1" sz="2900"/>
          </a:p>
        </p:txBody>
      </p:sp>
      <p:sp>
        <p:nvSpPr>
          <p:cNvPr id="144" name="Google Shape;144;p27"/>
          <p:cNvSpPr txBox="1"/>
          <p:nvPr/>
        </p:nvSpPr>
        <p:spPr>
          <a:xfrm>
            <a:off x="205825" y="851000"/>
            <a:ext cx="88323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Software clamps (PWM_MIN/MAX) and manual slew limits to avoid high voltage stress on instant changes.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AUTO mode: </a:t>
            </a:r>
            <a:r>
              <a:rPr lang="en" sz="1600"/>
              <a:t>Perturb &amp; Observe (hill-climb), </a:t>
            </a:r>
            <a:r>
              <a:rPr lang="en" sz="1600">
                <a:solidFill>
                  <a:schemeClr val="dk1"/>
                </a:solidFill>
              </a:rPr>
              <a:t>c</a:t>
            </a:r>
            <a:r>
              <a:rPr lang="en" sz="1600">
                <a:solidFill>
                  <a:schemeClr val="dk1"/>
                </a:solidFill>
              </a:rPr>
              <a:t>hosen for simplicity and teachability.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IV_SWEEP:</a:t>
            </a:r>
            <a:r>
              <a:rPr lang="en" sz="1600"/>
              <a:t> full duty sweep (5%→95%) for IV/PV </a:t>
            </a:r>
            <a:r>
              <a:rPr lang="en" sz="1600">
                <a:solidFill>
                  <a:schemeClr val="dk1"/>
                </a:solidFill>
              </a:rPr>
              <a:t>curves </a:t>
            </a:r>
            <a:r>
              <a:rPr lang="en" sz="1600"/>
              <a:t>capture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MANUAL: </a:t>
            </a:r>
            <a:r>
              <a:rPr lang="en" sz="1600">
                <a:solidFill>
                  <a:schemeClr val="dk1"/>
                </a:solidFill>
              </a:rPr>
              <a:t>User-controlled </a:t>
            </a:r>
            <a:r>
              <a:rPr lang="en" sz="1600"/>
              <a:t>slider with software slew limiter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Sensor Timing: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INA228 conversion time: 1,052μs×2 (Bus + Shunt) ×128 averages ≈270ms + Added settling time: 120ms so </a:t>
            </a:r>
            <a:r>
              <a:rPr b="1" lang="en" sz="1600">
                <a:solidFill>
                  <a:schemeClr val="dk1"/>
                </a:solidFill>
              </a:rPr>
              <a:t>Total Step Period:</a:t>
            </a:r>
            <a:r>
              <a:rPr lang="en" sz="1600">
                <a:solidFill>
                  <a:schemeClr val="dk1"/>
                </a:solidFill>
              </a:rPr>
              <a:t> 390ms. The MPPT algorithm updates the duty cycle exactly once per period to ensure stable readings. For educational visualization, stability is more important than sub-millisecond tracking speed.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Calibration:</a:t>
            </a:r>
            <a:r>
              <a:rPr lang="en" sz="1600">
                <a:solidFill>
                  <a:schemeClr val="dk1"/>
                </a:solidFill>
              </a:rPr>
              <a:t> Automated zero-offset calibration routine runs at startup to compensate for bias errors.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Web UI And Visualization</a:t>
            </a:r>
            <a:endParaRPr b="1" sz="2900"/>
          </a:p>
        </p:txBody>
      </p:sp>
      <p:sp>
        <p:nvSpPr>
          <p:cNvPr id="150" name="Google Shape;150;p28"/>
          <p:cNvSpPr txBox="1"/>
          <p:nvPr/>
        </p:nvSpPr>
        <p:spPr>
          <a:xfrm>
            <a:off x="155850" y="1119275"/>
            <a:ext cx="88323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Single Page Application served from LittleFS (HTML/CSS/JS +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Chart.js</a:t>
            </a:r>
            <a:r>
              <a:rPr lang="en" sz="1800"/>
              <a:t>) Responsive UI without reloading the page great for real-time </a:t>
            </a:r>
            <a:r>
              <a:rPr lang="en" sz="1800"/>
              <a:t>settings</a:t>
            </a:r>
            <a:r>
              <a:rPr lang="en" sz="1800"/>
              <a:t> and charts.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Live IV/PV charts, MPP marker, last 10 operating points highlighted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Uses WebSockets based telemetry to push live telemetries (Voltage, Current, Power, Efficiency) without page reloads, </a:t>
            </a:r>
            <a:r>
              <a:rPr lang="en" sz="1800"/>
              <a:t>for low-latency live updates.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Asynchronous WebServer hosting HTML/JS on the ESP32 for live running.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Used Chart.js for visualization of l</a:t>
            </a:r>
            <a:r>
              <a:rPr lang="en" sz="1800">
                <a:solidFill>
                  <a:schemeClr val="dk1"/>
                </a:solidFill>
              </a:rPr>
              <a:t>ive IV/PV charts, MPP marker, green dot indicator for the real-time Operating Point and last 10 operating points highlighted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13" y="152388"/>
            <a:ext cx="8751775" cy="48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75" y="216325"/>
            <a:ext cx="7849850" cy="492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025" y="457200"/>
            <a:ext cx="2868775" cy="24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750" y="457200"/>
            <a:ext cx="2973000" cy="25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Validation and Performance Test</a:t>
            </a:r>
            <a:endParaRPr b="1" sz="2900"/>
          </a:p>
        </p:txBody>
      </p:sp>
      <p:sp>
        <p:nvSpPr>
          <p:cNvPr id="172" name="Google Shape;172;p32"/>
          <p:cNvSpPr txBox="1"/>
          <p:nvPr/>
        </p:nvSpPr>
        <p:spPr>
          <a:xfrm>
            <a:off x="269825" y="1223400"/>
            <a:ext cx="84744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Oscilloscope Verification:</a:t>
            </a:r>
            <a:r>
              <a:rPr lang="en" sz="1600">
                <a:solidFill>
                  <a:schemeClr val="dk1"/>
                </a:solidFill>
              </a:rPr>
              <a:t> Confirmed complementary high/low-side switching with correct deadtime and no shoot-through.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Initial zero-offset calibration routine at power-up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Sensor accuracy</a:t>
            </a:r>
            <a:r>
              <a:rPr lang="en" sz="1600">
                <a:solidFill>
                  <a:schemeClr val="dk1"/>
                </a:solidFill>
              </a:rPr>
              <a:t>: validated with multimeter checks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Efficiency:</a:t>
            </a:r>
            <a:r>
              <a:rPr lang="en" sz="1600">
                <a:solidFill>
                  <a:schemeClr val="dk1"/>
                </a:solidFill>
              </a:rPr>
              <a:t> Achieved peak efficiency of </a:t>
            </a:r>
            <a:r>
              <a:rPr lang="en" sz="1600">
                <a:solidFill>
                  <a:schemeClr val="dk1"/>
                </a:solidFill>
              </a:rPr>
              <a:t>~95% </a:t>
            </a:r>
            <a:r>
              <a:rPr lang="en" sz="1600">
                <a:solidFill>
                  <a:schemeClr val="dk1"/>
                </a:solidFill>
              </a:rPr>
              <a:t>around the Maximum Power Point.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Tracking Accuracy:</a:t>
            </a:r>
            <a:r>
              <a:rPr lang="en" sz="1600">
                <a:solidFill>
                  <a:schemeClr val="dk1"/>
                </a:solidFill>
              </a:rPr>
              <a:t> The P&amp;O algorithm reliably finds the MPP within the 1% duty-cycle resolution </a:t>
            </a:r>
            <a:r>
              <a:rPr lang="en" sz="1600">
                <a:solidFill>
                  <a:schemeClr val="dk1"/>
                </a:solidFill>
              </a:rPr>
              <a:t>and update every 390 ms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Thermal:</a:t>
            </a:r>
            <a:r>
              <a:rPr lang="en" sz="1600">
                <a:solidFill>
                  <a:schemeClr val="dk1"/>
                </a:solidFill>
              </a:rPr>
              <a:t> Stable operation, with copper pours acting as effective heatsinks. Also mechanical heatsinks helps for mosfet heating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Resources and Available Files/Videos</a:t>
            </a:r>
            <a:endParaRPr b="1" sz="2900"/>
          </a:p>
        </p:txBody>
      </p:sp>
      <p:sp>
        <p:nvSpPr>
          <p:cNvPr id="178" name="Google Shape;178;p33"/>
          <p:cNvSpPr txBox="1"/>
          <p:nvPr/>
        </p:nvSpPr>
        <p:spPr>
          <a:xfrm>
            <a:off x="155850" y="1700450"/>
            <a:ext cx="883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Github: </a:t>
            </a:r>
            <a:r>
              <a:rPr b="1" lang="en" sz="1500" u="sng">
                <a:solidFill>
                  <a:srgbClr val="1155CC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https://github.com/UtkuDenizAltiok/EDUGrid_Final</a:t>
            </a:r>
            <a:r>
              <a:rPr b="1" lang="en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PCB Files, Report Document, Codes and This Slide included</a:t>
            </a:r>
            <a:br>
              <a:rPr b="1" lang="en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500">
              <a:solidFill>
                <a:srgbClr val="1F1F1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F1F1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Youtube Demo Video : </a:t>
            </a:r>
            <a:r>
              <a:rPr b="1" lang="en" sz="1500" u="sng">
                <a:solidFill>
                  <a:srgbClr val="1155CC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https://youtu.be/TUlADqGg1uM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ctrTitle"/>
          </p:nvPr>
        </p:nvSpPr>
        <p:spPr>
          <a:xfrm>
            <a:off x="34500" y="172125"/>
            <a:ext cx="9075000" cy="7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1"/>
                </a:solidFill>
              </a:rPr>
              <a:t>Future Work and Conclusions</a:t>
            </a:r>
            <a:endParaRPr b="1" sz="2900"/>
          </a:p>
        </p:txBody>
      </p:sp>
      <p:sp>
        <p:nvSpPr>
          <p:cNvPr id="184" name="Google Shape;184;p34"/>
          <p:cNvSpPr txBox="1"/>
          <p:nvPr/>
        </p:nvSpPr>
        <p:spPr>
          <a:xfrm>
            <a:off x="733350" y="1045575"/>
            <a:ext cx="81324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advanced MPPT algorithms (incremental conductance, model-based)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Thermal management improvement (box with a fan) and higher power variants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fault detection &amp; protection (overcurrent, temp, PV isolation)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battery charging profile support and energy storage integration</a:t>
            </a:r>
            <a:br>
              <a:rPr lang="en"/>
            </a:br>
            <a:br>
              <a:rPr lang="en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Achievement:</a:t>
            </a:r>
            <a:r>
              <a:rPr lang="en">
                <a:solidFill>
                  <a:schemeClr val="dk1"/>
                </a:solidFill>
              </a:rPr>
              <a:t> Successfully designed and validated a fully functional 300W (efficiency ~95%) MPPT synchronous buck converter from scratch with precise sensing and an ESP32-based UI.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System validated with oscilloscopes, multimeters and load tests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Educational Impact:</a:t>
            </a:r>
            <a:r>
              <a:rPr lang="en">
                <a:solidFill>
                  <a:schemeClr val="dk1"/>
                </a:solidFill>
              </a:rPr>
              <a:t> The device serves as a "glass box" tool—students can see the hardware (PCB visualizations), modify the open-source firmware, and visualize the physics (Web UI IV curves). Open-source repo and demo video provided for reproducibility and teaching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